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Hubot Sans Medium"/>
      <p:regular r:id="rId201314"/>
    </p:embeddedFont>
    <p:embeddedFont>
      <p:font typeface="Hubot Sans Bold"/>
      <p:regular r:id="rId201315"/>
    </p:embeddedFont>
    <p:embeddedFont>
      <p:font typeface="Hubot Sans Light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0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0">
              <a:alpha val="75000"/>
            </a:srgbClr>
          </a:solidFill>
          <a:ln/>
        </p:spPr>
      </p:sp>
      <p:pic>
        <p:nvPicPr>
          <p:cNvPr id="6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30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70298"/>
            <a:ext cx="10868745" cy="1565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Customer Shopping Behaviour &amp; Retail Sales Analytics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661475" y="3118842"/>
            <a:ext cx="10868745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End-to-end retail analytics case study using customer purchase data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61475" y="3789759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56682" y="407501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[Your Name] · Python, Pandas, PostgreSQL, SQL &amp; Power BI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261040" y="4552255"/>
            <a:ext cx="1078084" cy="293489"/>
          </a:xfrm>
          <a:prstGeom prst="roundRect">
            <a:avLst>
              <a:gd name="adj" fmla="val 7728"/>
            </a:avLst>
          </a:prstGeom>
          <a:solidFill>
            <a:srgbClr val="E6E9ED"/>
          </a:solidFill>
          <a:ln/>
        </p:spPr>
      </p:sp>
      <p:sp>
        <p:nvSpPr>
          <p:cNvPr id="7" name="Text 5"/>
          <p:cNvSpPr/>
          <p:nvPr/>
        </p:nvSpPr>
        <p:spPr>
          <a:xfrm>
            <a:off x="3374444" y="4608909"/>
            <a:ext cx="1460860" cy="180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🐍</a:t>
            </a:r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 PYTHON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3578" y="4555430"/>
            <a:ext cx="994941" cy="287139"/>
          </a:xfrm>
          <a:prstGeom prst="roundRect">
            <a:avLst>
              <a:gd name="adj" fmla="val 7899"/>
            </a:avLst>
          </a:prstGeom>
          <a:solidFill>
            <a:srgbClr val="E6E9ED"/>
          </a:solidFill>
          <a:ln/>
        </p:spPr>
      </p:sp>
      <p:sp>
        <p:nvSpPr>
          <p:cNvPr id="9" name="Text 7"/>
          <p:cNvSpPr/>
          <p:nvPr/>
        </p:nvSpPr>
        <p:spPr>
          <a:xfrm>
            <a:off x="4546982" y="4612084"/>
            <a:ext cx="137771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▤ PANDAS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22973" y="4555430"/>
            <a:ext cx="1396072" cy="287139"/>
          </a:xfrm>
          <a:prstGeom prst="roundRect">
            <a:avLst>
              <a:gd name="adj" fmla="val 7899"/>
            </a:avLst>
          </a:prstGeom>
          <a:solidFill>
            <a:srgbClr val="E6E9ED"/>
          </a:solidFill>
          <a:ln/>
        </p:spPr>
      </p:sp>
      <p:sp>
        <p:nvSpPr>
          <p:cNvPr id="11" name="Text 9"/>
          <p:cNvSpPr/>
          <p:nvPr/>
        </p:nvSpPr>
        <p:spPr>
          <a:xfrm>
            <a:off x="5636377" y="4612084"/>
            <a:ext cx="17788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◉ POSTGRESQL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013499" y="4555430"/>
            <a:ext cx="679433" cy="287139"/>
          </a:xfrm>
          <a:prstGeom prst="roundRect">
            <a:avLst>
              <a:gd name="adj" fmla="val 7899"/>
            </a:avLst>
          </a:prstGeom>
          <a:solidFill>
            <a:srgbClr val="E6E9ED"/>
          </a:solidFill>
          <a:ln/>
        </p:spPr>
      </p:sp>
      <p:sp>
        <p:nvSpPr>
          <p:cNvPr id="13" name="Text 11"/>
          <p:cNvSpPr/>
          <p:nvPr/>
        </p:nvSpPr>
        <p:spPr>
          <a:xfrm>
            <a:off x="7126903" y="4612084"/>
            <a:ext cx="106220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⌘ SQL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87386" y="4555430"/>
            <a:ext cx="1143269" cy="287139"/>
          </a:xfrm>
          <a:prstGeom prst="roundRect">
            <a:avLst>
              <a:gd name="adj" fmla="val 7899"/>
            </a:avLst>
          </a:prstGeom>
          <a:solidFill>
            <a:srgbClr val="E6E9ED"/>
          </a:solidFill>
          <a:ln/>
        </p:spPr>
      </p:sp>
      <p:sp>
        <p:nvSpPr>
          <p:cNvPr id="15" name="Text 13"/>
          <p:cNvSpPr/>
          <p:nvPr/>
        </p:nvSpPr>
        <p:spPr>
          <a:xfrm>
            <a:off x="7900790" y="4612084"/>
            <a:ext cx="152604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▥ POWER BI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1475" y="505837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From customer purchase records and preparation through exploratory analysis, SQL business questions, dashboard communication, and practical recommendations.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119"/>
            <a:ext cx="10868745" cy="538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Project Overview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34319"/>
            <a:ext cx="3858421" cy="1077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3,900</a:t>
            </a:r>
            <a:endParaRPr lang="en-US" sz="7050" dirty="0"/>
          </a:p>
        </p:txBody>
      </p:sp>
      <p:sp>
        <p:nvSpPr>
          <p:cNvPr id="4" name="Text 2"/>
          <p:cNvSpPr/>
          <p:nvPr/>
        </p:nvSpPr>
        <p:spPr>
          <a:xfrm>
            <a:off x="661475" y="2782193"/>
            <a:ext cx="3858421" cy="64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customer purchase records</a:t>
            </a:r>
            <a:endParaRPr lang="en-US" sz="1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E6E9ED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18 columns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61475" y="3596382"/>
            <a:ext cx="3858421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DATA COVERAGE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61475" y="4090194"/>
            <a:ext cx="3858421" cy="1159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Customer demographics</a:t>
            </a:r>
            <a:endParaRPr lang="en-US" sz="1400" dirty="0"/>
          </a:p>
          <a:p>
            <a:pPr algn="l" marL="284480" indent="-284480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Products and purchase details</a:t>
            </a:r>
            <a:endParaRPr lang="en-US" sz="1400" dirty="0"/>
          </a:p>
          <a:p>
            <a:pPr algn="l" marL="284480" indent="-284480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Discounts, subscriptions, segments</a:t>
            </a:r>
            <a:endParaRPr lang="en-US" sz="1400" dirty="0"/>
          </a:p>
          <a:p>
            <a:pPr algn="l" marL="284480" indent="-284480">
              <a:lnSpc>
                <a:spcPct val="114000"/>
              </a:lnSpc>
              <a:buSzPct val="100000"/>
              <a:buChar char="•"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Shopping behaviour and transaction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964385" y="1534319"/>
            <a:ext cx="657208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BUSINESS AREA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64385" y="2028130"/>
            <a:ext cx="7181670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Retail customer shopping behaviour and sales analytics.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64385" y="2443758"/>
            <a:ext cx="657208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PURPOSE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64385" y="2937570"/>
            <a:ext cx="6572086" cy="735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Transform transaction data into structured analysis of customer behaviour, purchasing patterns, product categories, discounts, subscriptions, and customer segments.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64385" y="3843338"/>
            <a:ext cx="657208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SCOPE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64385" y="4337149"/>
            <a:ext cx="7181670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3,900 customer purchase records across 18 columns.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64385" y="4752777"/>
            <a:ext cx="6572086" cy="323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ANALYTICAL PATH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964385" y="5246588"/>
            <a:ext cx="6572086" cy="888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Prepare and explore with Python and Pandas; integrate with PostgreSQL for SQL analysis; communicate documented analysis areas in Power BI.</a:t>
            </a:r>
            <a:endParaRPr lang="en-US" sz="14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Scope: customer demographics, purchase details, and shopping behaviour.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Business Problem &amp; Objectives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3986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56682" y="16839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Which customer groups, products, patterns, and commercial levers merit further attention?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161183"/>
            <a:ext cx="3496877" cy="2780109"/>
          </a:xfrm>
          <a:prstGeom prst="roundRect">
            <a:avLst>
              <a:gd name="adj" fmla="val 1020"/>
            </a:avLst>
          </a:prstGeom>
          <a:solidFill>
            <a:srgbClr val="1F2A30"/>
          </a:solidFill>
          <a:ln w="25399">
            <a:solidFill>
              <a:srgbClr val="4E6D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5881" y="2375595"/>
            <a:ext cx="3068065" cy="7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01</a:t>
            </a:r>
            <a:endParaRPr lang="en-US" sz="5100" dirty="0"/>
          </a:p>
        </p:txBody>
      </p:sp>
      <p:sp>
        <p:nvSpPr>
          <p:cNvPr id="7" name="Text 5"/>
          <p:cNvSpPr/>
          <p:nvPr/>
        </p:nvSpPr>
        <p:spPr>
          <a:xfrm>
            <a:off x="875881" y="3271540"/>
            <a:ext cx="306806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Revenue &amp; Demographics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5881" y="3668415"/>
            <a:ext cx="30680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Analyze revenue across demographic and purchase dimensions, including payment method, location, and season.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2161183"/>
            <a:ext cx="3496877" cy="2780109"/>
          </a:xfrm>
          <a:prstGeom prst="roundRect">
            <a:avLst>
              <a:gd name="adj" fmla="val 1020"/>
            </a:avLst>
          </a:prstGeom>
          <a:solidFill>
            <a:srgbClr val="1F2A30"/>
          </a:solidFill>
          <a:ln w="25399">
            <a:solidFill>
              <a:srgbClr val="7B8A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1766" y="2375595"/>
            <a:ext cx="3068065" cy="7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02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4561766" y="3271540"/>
            <a:ext cx="306806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Products &amp; Purchasing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561766" y="3668415"/>
            <a:ext cx="306806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Understand product demand and review performance.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033244" y="2161183"/>
            <a:ext cx="3496877" cy="2780109"/>
          </a:xfrm>
          <a:prstGeom prst="roundRect">
            <a:avLst>
              <a:gd name="adj" fmla="val 1020"/>
            </a:avLst>
          </a:prstGeom>
          <a:solidFill>
            <a:srgbClr val="1F2A30"/>
          </a:solidFill>
          <a:ln w="25399">
            <a:solidFill>
              <a:srgbClr val="2F6F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650" y="2375595"/>
            <a:ext cx="3068065" cy="782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03</a:t>
            </a:r>
            <a:endParaRPr lang="en-US" sz="5100" dirty="0"/>
          </a:p>
        </p:txBody>
      </p:sp>
      <p:sp>
        <p:nvSpPr>
          <p:cNvPr id="15" name="Text 13"/>
          <p:cNvSpPr/>
          <p:nvPr/>
        </p:nvSpPr>
        <p:spPr>
          <a:xfrm>
            <a:off x="8247650" y="3271540"/>
            <a:ext cx="306806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Commercial Levers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247650" y="3668415"/>
            <a:ext cx="30680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Examine discounts, subscriptions, repeat buying, customer segments, shipping types, and purchasing behaviour.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515391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Analysis questions define the scope; they are not presented as measured conclusions. The dataset and workflow support inquiry across customer, product, and transaction dimensions.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2500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519807"/>
            <a:ext cx="6296860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Dataset &amp; Data Preparation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661475" y="1054894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1268809"/>
            <a:ext cx="6296860" cy="1173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3,900 customer purchase records · 18 columns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661475" y="2601813"/>
            <a:ext cx="6296860" cy="277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Demographics, purchase details, discounts, subscriptions, customer segments, payment, location, seasonality, shipping, and shopping-behaviour features.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61475" y="2999184"/>
            <a:ext cx="3095250" cy="2872680"/>
          </a:xfrm>
          <a:prstGeom prst="roundRect">
            <a:avLst>
              <a:gd name="adj" fmla="val 740"/>
            </a:avLst>
          </a:prstGeom>
          <a:solidFill>
            <a:srgbClr val="1F2A30"/>
          </a:solidFill>
          <a:ln w="19050">
            <a:solidFill>
              <a:srgbClr val="4E6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205" y="3159919"/>
            <a:ext cx="2773789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Clean &amp; engineer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205" y="3478709"/>
            <a:ext cx="2773789" cy="2232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Review structure, data types, and missing values.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Impute 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b="1" dirty="0">
                <a:solidFill>
                  <a:srgbClr val="E6E9ED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37 missing Review Rating values</a:t>
            </a:r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 with category medians.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Standardize column names to snake_case.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Engineer age_group and purchase_frequency_days.</a:t>
            </a:r>
            <a:endParaRPr lang="en-US" sz="1100" dirty="0"/>
          </a:p>
          <a:p>
            <a:pPr algn="l" marL="223520" indent="-223520">
              <a:lnSpc>
                <a:spcPct val="102000"/>
              </a:lnSpc>
              <a:buSzPct val="100000"/>
              <a:buChar char="•"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Check discount_applied against promo_code_used for consistency; remove the redundant promo_code_used column.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62985" y="2999184"/>
            <a:ext cx="3095349" cy="2872680"/>
          </a:xfrm>
          <a:prstGeom prst="roundRect">
            <a:avLst>
              <a:gd name="adj" fmla="val 740"/>
            </a:avLst>
          </a:prstGeom>
          <a:solidFill>
            <a:srgbClr val="1F2A30"/>
          </a:solidFill>
          <a:ln w="19050">
            <a:solidFill>
              <a:srgbClr val="7B8A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23716" y="3159919"/>
            <a:ext cx="2773888" cy="255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Prepare for analysis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4023716" y="3478709"/>
            <a:ext cx="2773888" cy="1279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spcAft>
                <a:spcPts val="500"/>
              </a:spcAft>
              <a:buNone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Use Python and Pandas for data preparation, then integrate the analysis-ready dataset with PostgreSQL for SQL business analysis.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 documented consistency check supports redundant-column removal; no unreported values are inferred.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7500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519807"/>
            <a:ext cx="6296860" cy="408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Exploratory Data Analysis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5233360" y="1200051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33360" y="1433810"/>
            <a:ext cx="690644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Python &amp; Pandas established a structured baseline before business analysis.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1832273"/>
            <a:ext cx="3071835" cy="3980557"/>
          </a:xfrm>
          <a:prstGeom prst="roundRect">
            <a:avLst>
              <a:gd name="adj" fmla="val 831"/>
            </a:avLst>
          </a:prstGeom>
          <a:solidFill>
            <a:srgbClr val="1F2A30"/>
          </a:solidFill>
          <a:ln w="19050">
            <a:solidFill>
              <a:srgbClr val="4E6D7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22467" y="2021384"/>
            <a:ext cx="2693622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Inspect the data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22467" y="2419350"/>
            <a:ext cx="2693622" cy="2422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Load the dataset in Python with Pandas.</a:t>
            </a:r>
            <a:endParaRPr lang="en-US" sz="1300" dirty="0"/>
          </a:p>
          <a:p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Use df.info() to inspect names, data types, and non-null values.</a:t>
            </a:r>
            <a:endParaRPr lang="en-US" sz="1300" dirty="0"/>
          </a:p>
          <a:p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Review missing values, including </a:t>
            </a:r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b="1" dirty="0">
                <a:solidFill>
                  <a:srgbClr val="E6E9ED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37 missing Review Rating entries</a:t>
            </a:r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.</a:t>
            </a:r>
            <a:endParaRPr lang="en-US" sz="1300" dirty="0"/>
          </a:p>
          <a:p>
            <a:pPr algn="l" marL="264160" indent="-264160">
              <a:lnSpc>
                <a:spcPct val="111000"/>
              </a:lnSpc>
              <a:buSzPct val="100000"/>
              <a:buChar char="•"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Use df.describe(include='all'); review numerical and categorical summaries.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86" y="1832273"/>
            <a:ext cx="3071934" cy="3980557"/>
          </a:xfrm>
          <a:prstGeom prst="roundRect">
            <a:avLst>
              <a:gd name="adj" fmla="val 831"/>
            </a:avLst>
          </a:prstGeom>
          <a:solidFill>
            <a:srgbClr val="1F2A30"/>
          </a:solidFill>
          <a:ln w="19050">
            <a:solidFill>
              <a:srgbClr val="7B8A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7392" y="2021384"/>
            <a:ext cx="2693722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Prepare the analytical baseline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647392" y="2725539"/>
            <a:ext cx="2693722" cy="2898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Check missing values, then prepare the cleaned dataset for SQL analysis.</a:t>
            </a:r>
            <a:endParaRPr lang="en-US" sz="1300" dirty="0"/>
          </a:p>
          <a:p>
            <a:pPr algn="l" indent="0" marL="0">
              <a:lnSpc>
                <a:spcPct val="111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Documented preparation includes category-median imputation for Review Rating, snake_case names, and age_group and purchase_frequency_days features.</a:t>
            </a:r>
            <a:endParaRPr lang="en-US" sz="1300" dirty="0"/>
          </a:p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 documentation references EDA screenshots, but those files were not included in the supplied package.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SQL Business Analysis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3986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6839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PostgreSQL translated the prepared dataset into documented business-question analysis.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373809"/>
            <a:ext cx="4637269" cy="2419350"/>
          </a:xfrm>
          <a:prstGeom prst="roundRect">
            <a:avLst>
              <a:gd name="adj" fmla="val 1172"/>
            </a:avLst>
          </a:prstGeom>
          <a:solidFill>
            <a:srgbClr val="4E6D7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562820"/>
            <a:ext cx="4259255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Revenue Analysis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3092053"/>
            <a:ext cx="425925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Revenue by gender, age group, payment method, location, and season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50482" y="3810298"/>
            <a:ext cx="4259255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Product Analysis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0482" y="4339530"/>
            <a:ext cx="425925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Product ratings and top products by category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766251" y="2373809"/>
            <a:ext cx="5770220" cy="2665016"/>
          </a:xfrm>
          <a:prstGeom prst="roundRect">
            <a:avLst>
              <a:gd name="adj" fmla="val 1064"/>
            </a:avLst>
          </a:prstGeom>
          <a:solidFill>
            <a:srgbClr val="4E6D7A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955258" y="2562820"/>
            <a:ext cx="5392206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Commercial and Customer Analysis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55258" y="3092053"/>
            <a:ext cx="5392206" cy="1757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Commercial and Customer Analysis:</a:t>
            </a:r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 discount rate, discount impact, discounted purchases above average, subscription spending, repeat buyers, customer segmentation, segment revenue, and shipping type.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Queries are documented, but numerical output results are not included.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Power BI Dashboard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39868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68394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Dashboard areas organize the documented business questions into a customer-and-transaction view.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373809"/>
            <a:ext cx="4297354" cy="2494657"/>
          </a:xfrm>
          <a:prstGeom prst="roundRect">
            <a:avLst>
              <a:gd name="adj" fmla="val 1137"/>
            </a:avLst>
          </a:prstGeom>
          <a:solidFill>
            <a:srgbClr val="4E6D7A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50482" y="2562820"/>
            <a:ext cx="3919340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Dashboard areas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482" y="3092053"/>
            <a:ext cx="3919340" cy="15874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Customer spending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Product performance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Purchasing patterns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Discounts and subscriptions</a:t>
            </a:r>
            <a:endParaRPr lang="en-US" sz="1450" dirty="0"/>
          </a:p>
          <a:p>
            <a:pPr algn="l" marL="294640" indent="-294640">
              <a:lnSpc>
                <a:spcPct val="117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Customer segments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26336" y="2420938"/>
            <a:ext cx="6110135" cy="2400399"/>
          </a:xfrm>
          <a:prstGeom prst="roundRect">
            <a:avLst>
              <a:gd name="adj" fmla="val 1181"/>
            </a:avLst>
          </a:prstGeom>
          <a:solidFill>
            <a:srgbClr val="4E6D7A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615343" y="2609949"/>
            <a:ext cx="5732121" cy="3402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What it helps analyze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15343" y="3139182"/>
            <a:ext cx="5732121" cy="1493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Provides a consolidated view of customer spending, product performance, purchasing patterns, discounts, subscriptions, and customer segments.</a:t>
            </a:r>
            <a:endParaRPr lang="en-US" sz="14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Conceptual dashboard layout based on the documented Power BI scope; not the original screenshot.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08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Business Recommendations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61475" y="1276648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510407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Five documented levers for practical retail action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77805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678693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1908870"/>
            <a:ext cx="2020639" cy="1416745"/>
          </a:xfrm>
          <a:custGeom>
            <a:avLst/>
            <a:gdLst/>
            <a:ahLst/>
            <a:cxnLst/>
            <a:rect l="l" t="t" r="r" b="b"/>
            <a:pathLst>
              <a:path w="2020639" h="1416745">
                <a:moveTo>
                  <a:pt x="21265" y="0"/>
                </a:moveTo>
                <a:lnTo>
                  <a:pt x="1999374" y="0"/>
                </a:lnTo>
                <a:arcTo hR="21265" wR="21265" stAng="16200000" swAng="5400000"/>
                <a:lnTo>
                  <a:pt x="2020639" y="1416745"/>
                </a:lnTo>
                <a:lnTo>
                  <a:pt x="0" y="1416745"/>
                </a:lnTo>
                <a:lnTo>
                  <a:pt x="0" y="21265"/>
                </a:lnTo>
                <a:arcTo hR="21265" wR="21265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7" name="Text 5"/>
          <p:cNvSpPr/>
          <p:nvPr/>
        </p:nvSpPr>
        <p:spPr>
          <a:xfrm>
            <a:off x="831532" y="2078930"/>
            <a:ext cx="1680525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Subscriptions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1532" y="2476897"/>
            <a:ext cx="168052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Boost subscriptions through exclusive benefits and offers.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73402" y="3797102"/>
            <a:ext cx="2020738" cy="1722934"/>
          </a:xfrm>
          <a:custGeom>
            <a:avLst/>
            <a:gdLst/>
            <a:ahLst/>
            <a:cxnLst/>
            <a:rect l="l" t="t" r="r" b="b"/>
            <a:pathLst>
              <a:path w="2020738" h="1722934">
                <a:moveTo>
                  <a:pt x="0" y="0"/>
                </a:moveTo>
                <a:lnTo>
                  <a:pt x="2020738" y="0"/>
                </a:lnTo>
                <a:lnTo>
                  <a:pt x="2020738" y="1701668"/>
                </a:lnTo>
                <a:arcTo hR="21265" wR="21265" stAng="0" swAng="5400000"/>
                <a:lnTo>
                  <a:pt x="21265" y="1722934"/>
                </a:lnTo>
                <a:arcTo hR="21265" wR="21265" stAng="5400000" swAng="5400000"/>
                <a:lnTo>
                  <a:pt x="0" y="0"/>
                </a:lnTo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0" name="Text 8"/>
          <p:cNvSpPr/>
          <p:nvPr/>
        </p:nvSpPr>
        <p:spPr>
          <a:xfrm>
            <a:off x="3043459" y="3967162"/>
            <a:ext cx="1680624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Customer loyalty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043459" y="4671318"/>
            <a:ext cx="168062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Reward repeat buyers and progression into Loyal.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85429" y="1908870"/>
            <a:ext cx="2020738" cy="1869182"/>
          </a:xfrm>
          <a:custGeom>
            <a:avLst/>
            <a:gdLst/>
            <a:ahLst/>
            <a:cxnLst/>
            <a:rect l="l" t="t" r="r" b="b"/>
            <a:pathLst>
              <a:path w="2020738" h="1869182">
                <a:moveTo>
                  <a:pt x="21265" y="0"/>
                </a:moveTo>
                <a:lnTo>
                  <a:pt x="1999473" y="0"/>
                </a:lnTo>
                <a:arcTo hR="21265" wR="21265" stAng="16200000" swAng="5400000"/>
                <a:lnTo>
                  <a:pt x="2020738" y="1869182"/>
                </a:lnTo>
                <a:lnTo>
                  <a:pt x="0" y="1869182"/>
                </a:lnTo>
                <a:lnTo>
                  <a:pt x="0" y="21265"/>
                </a:lnTo>
                <a:arcTo hR="21265" wR="21265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3" name="Text 11"/>
          <p:cNvSpPr/>
          <p:nvPr/>
        </p:nvSpPr>
        <p:spPr>
          <a:xfrm>
            <a:off x="5255486" y="2078930"/>
            <a:ext cx="1680624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Discounts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55486" y="2476897"/>
            <a:ext cx="1680624" cy="1131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Review discount policy for engagement, revenue, and margin considerations.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97456" y="3797102"/>
            <a:ext cx="2020738" cy="1642963"/>
          </a:xfrm>
          <a:custGeom>
            <a:avLst/>
            <a:gdLst/>
            <a:ahLst/>
            <a:cxnLst/>
            <a:rect l="l" t="t" r="r" b="b"/>
            <a:pathLst>
              <a:path w="2020738" h="1642963">
                <a:moveTo>
                  <a:pt x="0" y="0"/>
                </a:moveTo>
                <a:lnTo>
                  <a:pt x="2020738" y="0"/>
                </a:lnTo>
                <a:lnTo>
                  <a:pt x="2020738" y="1621698"/>
                </a:lnTo>
                <a:arcTo hR="21265" wR="21265" stAng="0" swAng="5400000"/>
                <a:lnTo>
                  <a:pt x="21265" y="1642963"/>
                </a:lnTo>
                <a:arcTo hR="21265" wR="21265" stAng="5400000" swAng="5400000"/>
                <a:lnTo>
                  <a:pt x="0" y="0"/>
                </a:lnTo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6" name="Text 14"/>
          <p:cNvSpPr/>
          <p:nvPr/>
        </p:nvSpPr>
        <p:spPr>
          <a:xfrm>
            <a:off x="7467512" y="3967162"/>
            <a:ext cx="1680624" cy="306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Products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467512" y="4365129"/>
            <a:ext cx="1680624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Position products using top-rated and frequently purchased products.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509482" y="1908870"/>
            <a:ext cx="2020738" cy="1722934"/>
          </a:xfrm>
          <a:custGeom>
            <a:avLst/>
            <a:gdLst/>
            <a:ahLst/>
            <a:cxnLst/>
            <a:rect l="l" t="t" r="r" b="b"/>
            <a:pathLst>
              <a:path w="2020738" h="1722934">
                <a:moveTo>
                  <a:pt x="21265" y="0"/>
                </a:moveTo>
                <a:lnTo>
                  <a:pt x="1999473" y="0"/>
                </a:lnTo>
                <a:arcTo hR="21265" wR="21265" stAng="16200000" swAng="5400000"/>
                <a:lnTo>
                  <a:pt x="2020738" y="1722934"/>
                </a:lnTo>
                <a:lnTo>
                  <a:pt x="0" y="1722934"/>
                </a:lnTo>
                <a:lnTo>
                  <a:pt x="0" y="21265"/>
                </a:lnTo>
                <a:arcTo hR="21265" wR="21265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9" name="Text 17"/>
          <p:cNvSpPr/>
          <p:nvPr/>
        </p:nvSpPr>
        <p:spPr>
          <a:xfrm>
            <a:off x="9679539" y="2078930"/>
            <a:ext cx="1680624" cy="612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Targeted marketing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79539" y="2783086"/>
            <a:ext cx="1680624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Target high-revenue groups and relevant purchasing patterns.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1475" y="5673229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30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These are documented recommendation themes, not quantified impact estimates; prioritize and measure through subsequent business review.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8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Key Insights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21850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431230"/>
            <a:ext cx="11478330" cy="207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What the completed analysis supports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3509566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678693"/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1792784"/>
            <a:ext cx="2037208" cy="1267916"/>
          </a:xfrm>
          <a:custGeom>
            <a:avLst/>
            <a:gdLst/>
            <a:ahLst/>
            <a:cxnLst/>
            <a:rect l="l" t="t" r="r" b="b"/>
            <a:pathLst>
              <a:path w="2037208" h="1267916">
                <a:moveTo>
                  <a:pt x="20083" y="0"/>
                </a:moveTo>
                <a:lnTo>
                  <a:pt x="2017124" y="0"/>
                </a:lnTo>
                <a:arcTo hR="20084" wR="20083" stAng="16200000" swAng="5400000"/>
                <a:lnTo>
                  <a:pt x="2037208" y="1267916"/>
                </a:lnTo>
                <a:lnTo>
                  <a:pt x="0" y="1267916"/>
                </a:lnTo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7" name="Text 5"/>
          <p:cNvSpPr/>
          <p:nvPr/>
        </p:nvSpPr>
        <p:spPr>
          <a:xfrm>
            <a:off x="822106" y="1953419"/>
            <a:ext cx="1715945" cy="24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Data foundation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106" y="2276177"/>
            <a:ext cx="17159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 dataset supports the documented retail analysis areas.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69334" y="3528616"/>
            <a:ext cx="2037208" cy="1924745"/>
          </a:xfrm>
          <a:custGeom>
            <a:avLst/>
            <a:gdLst/>
            <a:ahLst/>
            <a:cxnLst/>
            <a:rect l="l" t="t" r="r" b="b"/>
            <a:pathLst>
              <a:path w="2037208" h="1924745">
                <a:moveTo>
                  <a:pt x="0" y="0"/>
                </a:moveTo>
                <a:lnTo>
                  <a:pt x="2037208" y="0"/>
                </a:lnTo>
                <a:lnTo>
                  <a:pt x="2037208" y="1904661"/>
                </a:lnTo>
                <a:arcTo hR="20084" wR="20083" stAng="0" swAng="5400000"/>
                <a:lnTo>
                  <a:pt x="20083" y="1924745"/>
                </a:lnTo>
                <a:arcTo hR="20084" wR="20083" stAng="5400000" swAng="5400000"/>
                <a:lnTo>
                  <a:pt x="0" y="0"/>
                </a:lnTo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0" name="Text 8"/>
          <p:cNvSpPr/>
          <p:nvPr/>
        </p:nvSpPr>
        <p:spPr>
          <a:xfrm>
            <a:off x="3029966" y="3689251"/>
            <a:ext cx="1715945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Prepared for analysis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029966" y="4252913"/>
            <a:ext cx="1715945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Data was cleaned, standardized, feature-engineered, and integrated into PostgreSQL.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77194" y="1792784"/>
            <a:ext cx="2037208" cy="1508820"/>
          </a:xfrm>
          <a:custGeom>
            <a:avLst/>
            <a:gdLst/>
            <a:ahLst/>
            <a:cxnLst/>
            <a:rect l="l" t="t" r="r" b="b"/>
            <a:pathLst>
              <a:path w="2037208" h="1508820">
                <a:moveTo>
                  <a:pt x="20083" y="0"/>
                </a:moveTo>
                <a:lnTo>
                  <a:pt x="2017124" y="0"/>
                </a:lnTo>
                <a:arcTo hR="20084" wR="20083" stAng="16200000" swAng="5400000"/>
                <a:lnTo>
                  <a:pt x="2037208" y="1508820"/>
                </a:lnTo>
                <a:lnTo>
                  <a:pt x="0" y="1508820"/>
                </a:lnTo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3" name="Text 11"/>
          <p:cNvSpPr/>
          <p:nvPr/>
        </p:nvSpPr>
        <p:spPr>
          <a:xfrm>
            <a:off x="5237825" y="1953419"/>
            <a:ext cx="1715945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Practical questions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37825" y="2517080"/>
            <a:ext cx="1715945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SQL organized practical retail business questions.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285054" y="3528616"/>
            <a:ext cx="2037208" cy="1924745"/>
          </a:xfrm>
          <a:custGeom>
            <a:avLst/>
            <a:gdLst/>
            <a:ahLst/>
            <a:cxnLst/>
            <a:rect l="l" t="t" r="r" b="b"/>
            <a:pathLst>
              <a:path w="2037208" h="1924745">
                <a:moveTo>
                  <a:pt x="0" y="0"/>
                </a:moveTo>
                <a:lnTo>
                  <a:pt x="2037208" y="0"/>
                </a:lnTo>
                <a:lnTo>
                  <a:pt x="2037208" y="1904661"/>
                </a:lnTo>
                <a:arcTo hR="20084" wR="20083" stAng="0" swAng="5400000"/>
                <a:lnTo>
                  <a:pt x="20083" y="1924745"/>
                </a:lnTo>
                <a:arcTo hR="20084" wR="20083" stAng="5400000" swAng="5400000"/>
                <a:lnTo>
                  <a:pt x="0" y="0"/>
                </a:lnTo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6" name="Text 14"/>
          <p:cNvSpPr/>
          <p:nvPr/>
        </p:nvSpPr>
        <p:spPr>
          <a:xfrm>
            <a:off x="7445685" y="3689251"/>
            <a:ext cx="1715945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Communicated findings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445685" y="4252913"/>
            <a:ext cx="1715945" cy="1039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 Power BI dashboard communicated the documented analysis areas.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492913" y="1792784"/>
            <a:ext cx="2037208" cy="1716782"/>
          </a:xfrm>
          <a:custGeom>
            <a:avLst/>
            <a:gdLst/>
            <a:ahLst/>
            <a:cxnLst/>
            <a:rect l="l" t="t" r="r" b="b"/>
            <a:pathLst>
              <a:path w="2037208" h="1716782">
                <a:moveTo>
                  <a:pt x="20083" y="0"/>
                </a:moveTo>
                <a:lnTo>
                  <a:pt x="2017124" y="0"/>
                </a:lnTo>
                <a:arcTo hR="20084" wR="20083" stAng="16200000" swAng="5400000"/>
                <a:lnTo>
                  <a:pt x="2037208" y="1716782"/>
                </a:lnTo>
                <a:lnTo>
                  <a:pt x="0" y="1716782"/>
                </a:lnTo>
                <a:lnTo>
                  <a:pt x="0" y="20084"/>
                </a:lnTo>
                <a:arcTo hR="20084" wR="20083" stAng="10800000" swAng="5400000"/>
                <a:close/>
              </a:path>
            </a:pathLst>
          </a:custGeom>
          <a:solidFill>
            <a:srgbClr val="374C55"/>
          </a:solidFill>
          <a:ln/>
        </p:spPr>
      </p:sp>
      <p:sp>
        <p:nvSpPr>
          <p:cNvPr id="19" name="Text 17"/>
          <p:cNvSpPr/>
          <p:nvPr/>
        </p:nvSpPr>
        <p:spPr>
          <a:xfrm>
            <a:off x="9653544" y="1953419"/>
            <a:ext cx="1715945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Business connection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653544" y="2517080"/>
            <a:ext cx="1715945" cy="831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The project connected technical analysis with business recommendations.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61475" y="5587901"/>
            <a:ext cx="10868745" cy="415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E6E9ED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Evidence boundary:</a:t>
            </a:r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 Rankings, revenue totals, percentages, and quantified impacts cannot be claimed without the missing SQL output tables/screenshots.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Conclusion &amp; Project Workflow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661475" y="114865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6E9E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1336774"/>
            <a:ext cx="11478330" cy="186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From raw purchase records to practical retail recommendations</a:t>
            </a: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54770"/>
            <a:ext cx="2717137" cy="5954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0299" y="2367359"/>
            <a:ext cx="24194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Python &amp; Pandas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612" y="1654770"/>
            <a:ext cx="2717236" cy="5954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27436" y="2367359"/>
            <a:ext cx="2419587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Data Cleaning &amp; Feature Engineering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8" y="1654770"/>
            <a:ext cx="2717137" cy="595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44672" y="2367359"/>
            <a:ext cx="24194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Exploratory Data Analysis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984" y="1654770"/>
            <a:ext cx="2717236" cy="59541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961809" y="2367359"/>
            <a:ext cx="241958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PostgreSQL &amp; SQL</a:t>
            </a:r>
            <a:endParaRPr lang="en-US" sz="14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962672"/>
            <a:ext cx="2717137" cy="59541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0299" y="3675261"/>
            <a:ext cx="2419488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Power BI Dashboard</a:t>
            </a:r>
            <a:endParaRPr lang="en-US" sz="14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8612" y="2962672"/>
            <a:ext cx="2717236" cy="59541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527436" y="3675261"/>
            <a:ext cx="2419587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6E9ED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Business Recommendations</a:t>
            </a:r>
            <a:endParaRPr lang="en-US" sz="1450" dirty="0"/>
          </a:p>
        </p:txBody>
      </p:sp>
      <p:sp>
        <p:nvSpPr>
          <p:cNvPr id="17" name="Text 9"/>
          <p:cNvSpPr/>
          <p:nvPr/>
        </p:nvSpPr>
        <p:spPr>
          <a:xfrm>
            <a:off x="661475" y="4519613"/>
            <a:ext cx="525280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Completed work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661475" y="4904680"/>
            <a:ext cx="5252807" cy="1321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Reviewed 3,900 records across 18 columns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Cleaned missing values and standardized fields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Created analytical features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Integrated with PostgreSQL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Structured SQL analysis</a:t>
            </a:r>
            <a:endParaRPr lang="en-US" sz="1150" dirty="0"/>
          </a:p>
          <a:p>
            <a:pPr algn="l" marL="233680" indent="-233680">
              <a:lnSpc>
                <a:spcPct val="104000"/>
              </a:lnSpc>
              <a:buSzPct val="100000"/>
              <a:buChar char="•"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Documented dashboard areas and recommendations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6283763" y="4519613"/>
            <a:ext cx="5252807" cy="267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ubot Sans Medium" pitchFamily="34" charset="0"/>
                <a:ea typeface="Hubot Sans Medium" pitchFamily="34" charset="-122"/>
                <a:cs typeface="Hubot Sans Medium" pitchFamily="34" charset="-120"/>
              </a:rPr>
              <a:t>Skills demonstrated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83763" y="4904680"/>
            <a:ext cx="5252807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E6E9ED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Data loading · Data cleaning · Missing-value handling · Feature engineering · Exploratory analysis · SQL querying · PostgreSQL integration · Dashboard communication · Business recommendations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2026-09-27T12:36:43Z</dcterms:created>
  <dcterms:modified xsi:type="dcterms:W3CDTF">2026-09-27T12:36:43Z</dcterms:modified>
</cp:coreProperties>
</file>